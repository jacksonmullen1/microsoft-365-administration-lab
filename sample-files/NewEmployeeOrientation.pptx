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4" r:id="rId6"/>
    <p:sldId id="282" r:id="rId7"/>
    <p:sldId id="279" r:id="rId8"/>
    <p:sldId id="258" r:id="rId9"/>
    <p:sldId id="261" r:id="rId10"/>
    <p:sldId id="286" r:id="rId11"/>
    <p:sldId id="285" r:id="rId12"/>
    <p:sldId id="284" r:id="rId13"/>
    <p:sldId id="268" r:id="rId14"/>
    <p:sldId id="274" r:id="rId15"/>
    <p:sldId id="281" r:id="rId16"/>
    <p:sldId id="277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879" autoAdjust="0"/>
  </p:normalViewPr>
  <p:slideViewPr>
    <p:cSldViewPr showGuides="1">
      <p:cViewPr varScale="1">
        <p:scale>
          <a:sx n="151" d="100"/>
          <a:sy n="151" d="100"/>
        </p:scale>
        <p:origin x="624" y="138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/>
            <a:t>Foster collaborative </a:t>
          </a:r>
          <a:br>
            <a:rPr lang="en-US" sz="1200" dirty="0"/>
          </a:br>
          <a:r>
            <a:rPr lang="en-US" sz="1200" dirty="0"/>
            <a:t>growth</a:t>
          </a:r>
          <a:endParaRPr lang="en-US" sz="1200" b="0" dirty="0"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/>
            <a:t>Ensure a tailored and user-focused experience</a:t>
          </a:r>
          <a:endParaRPr lang="en-US" sz="1200" b="0" dirty="0"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/>
            <a:t>Capitalize on emerging global markets</a:t>
          </a:r>
          <a:endParaRPr lang="en-US" sz="1200" b="0" dirty="0"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 custLinFactNeighborX="65647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ScaleX="81789" custLinFactNeighborX="8021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 custLinFactX="314414" custLinFactNeighborX="400000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 custLinFactX="9543" custLinFactNeighborX="100000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25451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 custLinFactX="600000" custLinFactNeighborX="60570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 custLinFactX="15526" custLinFactNeighborX="100000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ScaleX="78587" custLinFactNeighborX="1231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 custLinFactX="600000" custLinFactNeighborX="673669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905000"/>
          <a:ext cx="54864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318191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349317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787494" y="777239"/>
          <a:ext cx="1868259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Foster collaborative </a:t>
          </a:r>
          <a:br>
            <a:rPr lang="en-US" sz="1200" kern="1200" dirty="0"/>
          </a:br>
          <a:r>
            <a:rPr lang="en-US" sz="1200" kern="1200" dirty="0"/>
            <a:t>growth</a:t>
          </a:r>
          <a:endParaRPr lang="en-US" sz="1200" b="0" kern="1200" dirty="0">
            <a:latin typeface="+mn-lt"/>
          </a:endParaRPr>
        </a:p>
      </dsp:txBody>
      <dsp:txXfrm>
        <a:off x="787494" y="777239"/>
        <a:ext cx="1868259" cy="1127760"/>
      </dsp:txXfrm>
    </dsp:sp>
    <dsp:sp modelId="{8E3FB235-DF38-476B-9A0E-B1E583D50944}">
      <dsp:nvSpPr>
        <dsp:cNvPr id="0" name=""/>
        <dsp:cNvSpPr/>
      </dsp:nvSpPr>
      <dsp:spPr>
        <a:xfrm>
          <a:off x="787494" y="380999"/>
          <a:ext cx="1868259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+mn-lt"/>
              <a:ea typeface="+mn-ea"/>
              <a:cs typeface="+mn-cs"/>
            </a:rPr>
            <a:t>Expand</a:t>
          </a:r>
        </a:p>
      </dsp:txBody>
      <dsp:txXfrm>
        <a:off x="787494" y="380999"/>
        <a:ext cx="1868259" cy="396240"/>
      </dsp:txXfrm>
    </dsp:sp>
    <dsp:sp modelId="{9AA05CE5-209F-4AD9-BE2C-2A69F76DA8F4}">
      <dsp:nvSpPr>
        <dsp:cNvPr id="0" name=""/>
        <dsp:cNvSpPr/>
      </dsp:nvSpPr>
      <dsp:spPr>
        <a:xfrm>
          <a:off x="455352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418411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859230" y="309078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890356" y="312191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2344752" y="1905000"/>
          <a:ext cx="2284243" cy="112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Ensure a tailored and user-focused experience</a:t>
          </a:r>
          <a:endParaRPr lang="en-US" sz="1200" b="0" kern="1200" dirty="0">
            <a:latin typeface="+mn-lt"/>
          </a:endParaRPr>
        </a:p>
      </dsp:txBody>
      <dsp:txXfrm>
        <a:off x="2344752" y="1905000"/>
        <a:ext cx="2284243" cy="1127759"/>
      </dsp:txXfrm>
    </dsp:sp>
    <dsp:sp modelId="{223C5207-4FA2-4A6C-8F43-20BD55767C99}">
      <dsp:nvSpPr>
        <dsp:cNvPr id="0" name=""/>
        <dsp:cNvSpPr/>
      </dsp:nvSpPr>
      <dsp:spPr>
        <a:xfrm>
          <a:off x="2344752" y="3032759"/>
          <a:ext cx="2284243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Enhance</a:t>
          </a:r>
        </a:p>
      </dsp:txBody>
      <dsp:txXfrm>
        <a:off x="2344752" y="3032759"/>
        <a:ext cx="2284243" cy="396240"/>
      </dsp:txXfrm>
    </dsp:sp>
    <dsp:sp modelId="{4FE5EB5D-4CEF-4D0D-9394-0534E61844BE}">
      <dsp:nvSpPr>
        <dsp:cNvPr id="0" name=""/>
        <dsp:cNvSpPr/>
      </dsp:nvSpPr>
      <dsp:spPr>
        <a:xfrm>
          <a:off x="1999324" y="1905000"/>
          <a:ext cx="0" cy="112775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962383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3250043" y="439028"/>
          <a:ext cx="280183" cy="28018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3281169" y="470153"/>
          <a:ext cx="217932" cy="21793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3656248" y="777239"/>
          <a:ext cx="1795118" cy="112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Capitalize on emerging global markets</a:t>
          </a:r>
          <a:endParaRPr lang="en-US" sz="1200" b="0" kern="1200" dirty="0">
            <a:latin typeface="+mn-lt"/>
          </a:endParaRPr>
        </a:p>
      </dsp:txBody>
      <dsp:txXfrm>
        <a:off x="3656248" y="777239"/>
        <a:ext cx="1795118" cy="1127760"/>
      </dsp:txXfrm>
    </dsp:sp>
    <dsp:sp modelId="{2D6C7916-1130-46A8-833B-A6278CBD2192}">
      <dsp:nvSpPr>
        <dsp:cNvPr id="0" name=""/>
        <dsp:cNvSpPr/>
      </dsp:nvSpPr>
      <dsp:spPr>
        <a:xfrm>
          <a:off x="3656248" y="380999"/>
          <a:ext cx="1795118" cy="396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latin typeface="Century Gothic"/>
              <a:ea typeface="+mn-ea"/>
              <a:cs typeface="+mn-cs"/>
            </a:rPr>
            <a:t>Explore</a:t>
          </a:r>
        </a:p>
      </dsp:txBody>
      <dsp:txXfrm>
        <a:off x="3656248" y="380999"/>
        <a:ext cx="1795118" cy="396240"/>
      </dsp:txXfrm>
    </dsp:sp>
    <dsp:sp modelId="{4D953791-5C2F-4A75-A8F4-6ED7EAB5E015}">
      <dsp:nvSpPr>
        <dsp:cNvPr id="0" name=""/>
        <dsp:cNvSpPr/>
      </dsp:nvSpPr>
      <dsp:spPr>
        <a:xfrm>
          <a:off x="3390896" y="777239"/>
          <a:ext cx="0" cy="112776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3353955" y="1869338"/>
          <a:ext cx="71323" cy="713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6/25/2026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6/25/2026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New Employee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/>
              <a:t>Orientation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vert="horz" lIns="91416" tIns="45708" rIns="91416" bIns="45708" rtlCol="0" anchor="ctr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/>
          <a:p>
            <a:r>
              <a:rPr lang="en-US" dirty="0"/>
              <a:t>About us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/>
          <a:lstStyle/>
          <a:p>
            <a:r>
              <a:rPr lang="en-US" dirty="0"/>
              <a:t>Aiming to revolutionize industries </a:t>
            </a:r>
            <a:br>
              <a:rPr lang="en-US" dirty="0"/>
            </a:br>
            <a:r>
              <a:rPr lang="en-US" dirty="0"/>
              <a:t>through our forward-thinking solutions </a:t>
            </a:r>
          </a:p>
        </p:txBody>
      </p:sp>
      <p:pic>
        <p:nvPicPr>
          <p:cNvPr id="45" name="Picture Placeholder 44" descr="Chart on a mobile device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/>
        </p:blipFill>
        <p:spPr>
          <a:xfrm>
            <a:off x="7765046" y="883471"/>
            <a:ext cx="2439096" cy="5091059"/>
          </a:xfr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Combining functionality and user-friendliness, we empower users to streamline operations and boost efficiency</a:t>
            </a:r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Product benefits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>
            <a:normAutofit/>
          </a:bodyPr>
          <a:lstStyle/>
          <a:p>
            <a:r>
              <a:rPr lang="en-US" dirty="0"/>
              <a:t>Market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  <a:p>
            <a:r>
              <a:rPr lang="en-US" dirty="0"/>
              <a:t>Prioritizes user experience</a:t>
            </a:r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/>
          <a:p>
            <a:r>
              <a:rPr lang="en-US" dirty="0"/>
              <a:t>Market overview</a:t>
            </a:r>
          </a:p>
        </p:txBody>
      </p:sp>
      <p:pic>
        <p:nvPicPr>
          <p:cNvPr id="45" name="Picture Placeholder 44" descr="Charts on a laptop screen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r="41931"/>
          <a:stretch/>
        </p:blipFill>
        <p:spPr>
          <a:xfrm>
            <a:off x="8120063" y="990600"/>
            <a:ext cx="4068762" cy="4384675"/>
          </a:xfrm>
        </p:spPr>
      </p:pic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9" name="Diagram 2" descr="Drop pin timeline SmartArt graphic&#10;">
            <a:extLst>
              <a:ext uri="{FF2B5EF4-FFF2-40B4-BE49-F238E27FC236}">
                <a16:creationId xmlns:a16="http://schemas.microsoft.com/office/drawing/2014/main" id="{3FBEBE7D-0B6F-4C93-0F2F-3EBC3855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877905"/>
              </p:ext>
            </p:extLst>
          </p:nvPr>
        </p:nvGraphicFramePr>
        <p:xfrm>
          <a:off x="6130924" y="20574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2E986-9D7B-19D4-F7A1-31FE3C36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/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03AEAB34-C5C5-047F-2BA9-1FF4065F637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330361345"/>
              </p:ext>
            </p:extLst>
          </p:nvPr>
        </p:nvGraphicFramePr>
        <p:xfrm>
          <a:off x="6094413" y="2286000"/>
          <a:ext cx="5559424" cy="3962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76599">
                  <a:extLst>
                    <a:ext uri="{9D8B030D-6E8A-4147-A177-3AD203B41FA5}">
                      <a16:colId xmlns:a16="http://schemas.microsoft.com/office/drawing/2014/main" val="3783183161"/>
                    </a:ext>
                  </a:extLst>
                </a:gridCol>
                <a:gridCol w="2282825">
                  <a:extLst>
                    <a:ext uri="{9D8B030D-6E8A-4147-A177-3AD203B41FA5}">
                      <a16:colId xmlns:a16="http://schemas.microsoft.com/office/drawing/2014/main" val="126823262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6910424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917549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23364742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175112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/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884551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Areas of growth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03CD5FD-27C3-4342-BE41-F411CB8D6931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66499313"/>
              </p:ext>
            </p:extLst>
          </p:nvPr>
        </p:nvGraphicFramePr>
        <p:xfrm>
          <a:off x="1293813" y="2743200"/>
          <a:ext cx="10361616" cy="3352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0404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90404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Expenses($)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Net Profit($)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Competitive landscape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Summary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</a:t>
            </a:r>
          </a:p>
          <a:p>
            <a:r>
              <a:rPr lang="en-US" dirty="0"/>
              <a:t>With a focus on innovation, user experience, and strategic growth, we anticipate reaching new heights in the coming year.</a:t>
            </a:r>
          </a:p>
          <a:p>
            <a:r>
              <a:rPr lang="en-US" dirty="0"/>
              <a:t>Our commitment to user satisfaction underscores every aspect of our operations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  <a:p>
            <a:r>
              <a:rPr lang="en-US" dirty="0"/>
              <a:t>www.adatum.com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{3336A6B8-7071-41DF-ADD6-40299AFB963C}TFf1460845-8e07-4b92-9183-e15be13008a218dbe6a5_win32-cc1095971745</Template>
  <TotalTime>1</TotalTime>
  <Words>327</Words>
  <Application>Microsoft Office PowerPoint</Application>
  <PresentationFormat>Custom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Palatino Linotype</vt:lpstr>
      <vt:lpstr>Custom</vt:lpstr>
      <vt:lpstr>New Employee Orientation</vt:lpstr>
      <vt:lpstr>Agenda</vt:lpstr>
      <vt:lpstr>About us</vt:lpstr>
      <vt:lpstr>Product overview</vt:lpstr>
      <vt:lpstr>Product benefits</vt:lpstr>
      <vt:lpstr>Market comparison</vt:lpstr>
      <vt:lpstr>Market overview</vt:lpstr>
      <vt:lpstr>Growth strategy</vt:lpstr>
      <vt:lpstr>Traction</vt:lpstr>
      <vt:lpstr>Areas of growth</vt:lpstr>
      <vt:lpstr>Competitive landscape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Evanzuela</dc:creator>
  <cp:lastModifiedBy>Jackson Evanzuela</cp:lastModifiedBy>
  <cp:revision>1</cp:revision>
  <dcterms:created xsi:type="dcterms:W3CDTF">2026-06-26T03:42:04Z</dcterms:created>
  <dcterms:modified xsi:type="dcterms:W3CDTF">2026-06-26T03:43:23Z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